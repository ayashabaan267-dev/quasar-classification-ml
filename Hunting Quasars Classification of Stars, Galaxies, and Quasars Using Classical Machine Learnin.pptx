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ivvic Heavy" charset="1" panose="00000000000000000000"/>
      <p:regular r:id="rId15"/>
    </p:embeddedFont>
    <p:embeddedFont>
      <p:font typeface="IBM Plex Mono Medium" charset="1" panose="020B0609050203000203"/>
      <p:regular r:id="rId16"/>
    </p:embeddedFont>
    <p:embeddedFont>
      <p:font typeface="Courier PS Bold" charset="1" panose="02070809020205020404"/>
      <p:regular r:id="rId17"/>
    </p:embeddedFont>
    <p:embeddedFont>
      <p:font typeface="IBM Plex Mono Bold" charset="1" panose="020B0809050203000203"/>
      <p:regular r:id="rId18"/>
    </p:embeddedFont>
    <p:embeddedFont>
      <p:font typeface="IBM Plex Mono" charset="1" panose="020B05090502030002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173259"/>
          </a:xfrm>
          <a:custGeom>
            <a:avLst/>
            <a:gdLst/>
            <a:ahLst/>
            <a:cxnLst/>
            <a:rect r="r" b="b" t="t" l="l"/>
            <a:pathLst>
              <a:path h="10173259" w="18288000">
                <a:moveTo>
                  <a:pt x="0" y="0"/>
                </a:moveTo>
                <a:lnTo>
                  <a:pt x="18288000" y="0"/>
                </a:lnTo>
                <a:lnTo>
                  <a:pt x="18288000" y="10173259"/>
                </a:lnTo>
                <a:lnTo>
                  <a:pt x="0" y="10173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-3285" t="-98909" r="-3159" b="-882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5124" y="334398"/>
            <a:ext cx="15017752" cy="2887182"/>
          </a:xfrm>
          <a:custGeom>
            <a:avLst/>
            <a:gdLst/>
            <a:ahLst/>
            <a:cxnLst/>
            <a:rect r="r" b="b" t="t" l="l"/>
            <a:pathLst>
              <a:path h="2887182" w="15017752">
                <a:moveTo>
                  <a:pt x="0" y="0"/>
                </a:moveTo>
                <a:lnTo>
                  <a:pt x="15017752" y="0"/>
                </a:lnTo>
                <a:lnTo>
                  <a:pt x="15017752" y="2887182"/>
                </a:lnTo>
                <a:lnTo>
                  <a:pt x="0" y="28871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90" t="-75148" r="-8871" b="-17672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9356" y="8060966"/>
            <a:ext cx="4560299" cy="135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b="true" sz="2600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Rawan Elwany </a:t>
            </a:r>
            <a:r>
              <a:rPr lang="en-US" b="true" sz="2600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2402133</a:t>
            </a:r>
          </a:p>
          <a:p>
            <a:pPr algn="just">
              <a:lnSpc>
                <a:spcPts val="3640"/>
              </a:lnSpc>
            </a:pPr>
            <a:r>
              <a:rPr lang="en-US" b="true" sz="2600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Sama hany 2401610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Yousra Mohamed 2401637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76213" y="7088699"/>
            <a:ext cx="3135573" cy="52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Team members</a:t>
            </a:r>
          </a:p>
        </p:txBody>
      </p:sp>
      <p:sp>
        <p:nvSpPr>
          <p:cNvPr name="AutoShape 6" id="6"/>
          <p:cNvSpPr/>
          <p:nvPr/>
        </p:nvSpPr>
        <p:spPr>
          <a:xfrm>
            <a:off x="5897880" y="7780892"/>
            <a:ext cx="6492240" cy="0"/>
          </a:xfrm>
          <a:prstGeom prst="line">
            <a:avLst/>
          </a:pr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636908" y="8022866"/>
            <a:ext cx="3677076" cy="181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Aya Shabaan 2401918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Rawan wael 2400586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Jana Hany 2401929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trike="noStrike" u="none">
                <a:solidFill>
                  <a:srgbClr val="FFDE59"/>
                </a:solidFill>
                <a:latin typeface="Livvic Heavy"/>
                <a:ea typeface="Livvic Heavy"/>
                <a:cs typeface="Livvic Heavy"/>
                <a:sym typeface="Livvic Heavy"/>
              </a:rPr>
              <a:t>Malak Shady 2402135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37939" y="-1095252"/>
            <a:ext cx="20363878" cy="12477503"/>
          </a:xfrm>
          <a:custGeom>
            <a:avLst/>
            <a:gdLst/>
            <a:ahLst/>
            <a:cxnLst/>
            <a:rect r="r" b="b" t="t" l="l"/>
            <a:pathLst>
              <a:path h="12477503" w="20363878">
                <a:moveTo>
                  <a:pt x="0" y="0"/>
                </a:moveTo>
                <a:lnTo>
                  <a:pt x="20363878" y="0"/>
                </a:lnTo>
                <a:lnTo>
                  <a:pt x="20363878" y="12477504"/>
                </a:lnTo>
                <a:lnTo>
                  <a:pt x="0" y="12477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73341" y="3666434"/>
            <a:ext cx="8038621" cy="3145110"/>
          </a:xfrm>
          <a:custGeom>
            <a:avLst/>
            <a:gdLst/>
            <a:ahLst/>
            <a:cxnLst/>
            <a:rect r="r" b="b" t="t" l="l"/>
            <a:pathLst>
              <a:path h="3145110" w="8038621">
                <a:moveTo>
                  <a:pt x="0" y="0"/>
                </a:moveTo>
                <a:lnTo>
                  <a:pt x="8038621" y="0"/>
                </a:lnTo>
                <a:lnTo>
                  <a:pt x="8038621" y="3145111"/>
                </a:lnTo>
                <a:lnTo>
                  <a:pt x="0" y="3145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78338" y="1095854"/>
            <a:ext cx="5531324" cy="112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b="true" sz="6599">
                <a:solidFill>
                  <a:srgbClr val="FFDE59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The mission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3093" y="2955354"/>
            <a:ext cx="616154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while exploring the space we observed cosmic bodies, strange ones...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49746" y="4626610"/>
            <a:ext cx="616154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they look like stars, shine like Galaxies..they must be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30518" y="5700232"/>
            <a:ext cx="3634382" cy="1165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39"/>
              </a:lnSpc>
              <a:spcBef>
                <a:spcPct val="0"/>
              </a:spcBef>
            </a:pPr>
            <a:r>
              <a:rPr lang="en-US" b="true" sz="6813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QUASARS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15107" y="-862802"/>
            <a:ext cx="20114334" cy="12324601"/>
          </a:xfrm>
          <a:custGeom>
            <a:avLst/>
            <a:gdLst/>
            <a:ahLst/>
            <a:cxnLst/>
            <a:rect r="r" b="b" t="t" l="l"/>
            <a:pathLst>
              <a:path h="12324601" w="20114334">
                <a:moveTo>
                  <a:pt x="0" y="0"/>
                </a:moveTo>
                <a:lnTo>
                  <a:pt x="20114334" y="0"/>
                </a:lnTo>
                <a:lnTo>
                  <a:pt x="20114334" y="12324601"/>
                </a:lnTo>
                <a:lnTo>
                  <a:pt x="0" y="123246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82492" y="1484017"/>
            <a:ext cx="11519136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FFDE59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Data Acquisition &amp;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9519" y="5175674"/>
            <a:ext cx="10074180" cy="335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FFFFFF"/>
                </a:solidFill>
                <a:latin typeface="Courier PS Bold"/>
                <a:ea typeface="Courier PS Bold"/>
                <a:cs typeface="Courier PS Bold"/>
                <a:sym typeface="Courier PS Bold"/>
              </a:rPr>
              <a:t>SELECT TOP 1000</a:t>
            </a:r>
          </a:p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FFFFFF"/>
                </a:solidFill>
                <a:latin typeface="Courier PS Bold"/>
                <a:ea typeface="Courier PS Bold"/>
                <a:cs typeface="Courier PS Bold"/>
                <a:sym typeface="Courier PS Bold"/>
              </a:rPr>
              <a:t>    p.u, p.g, p.r, p.i, p.z,</a:t>
            </a:r>
          </a:p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FFFFFF"/>
                </a:solidFill>
                <a:latin typeface="Courier PS Bold"/>
                <a:ea typeface="Courier PS Bold"/>
                <a:cs typeface="Courier PS Bold"/>
                <a:sym typeface="Courier PS Bold"/>
              </a:rPr>
              <a:t>    s.z AS redshift,</a:t>
            </a:r>
          </a:p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FFFFFF"/>
                </a:solidFill>
                <a:latin typeface="Courier PS Bold"/>
                <a:ea typeface="Courier PS Bold"/>
                <a:cs typeface="Courier PS Bold"/>
                <a:sym typeface="Courier PS Bold"/>
              </a:rPr>
              <a:t>    s.class</a:t>
            </a:r>
          </a:p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FFFFFF"/>
                </a:solidFill>
                <a:latin typeface="Courier PS Bold"/>
                <a:ea typeface="Courier PS Bold"/>
                <a:cs typeface="Courier PS Bold"/>
                <a:sym typeface="Courier PS Bold"/>
              </a:rPr>
              <a:t>FROM PhotoObj AS p</a:t>
            </a:r>
          </a:p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8">
                <a:solidFill>
                  <a:srgbClr val="FFFFFF"/>
                </a:solidFill>
                <a:latin typeface="Courier PS Bold"/>
                <a:ea typeface="Courier PS Bold"/>
                <a:cs typeface="Courier PS Bold"/>
                <a:sym typeface="Courier PS Bold"/>
              </a:rPr>
              <a:t>JOIN SpecObj AS s ON s.bestObjID = p.objID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39947" y="2927305"/>
            <a:ext cx="797966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Data S</a:t>
            </a: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ource: SDSS DR19 Database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Schema Reference: DR19Q_prop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9947" y="4501530"/>
            <a:ext cx="3626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Extraction Query: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1485" y="-424992"/>
            <a:ext cx="20830971" cy="11136984"/>
          </a:xfrm>
          <a:custGeom>
            <a:avLst/>
            <a:gdLst/>
            <a:ahLst/>
            <a:cxnLst/>
            <a:rect r="r" b="b" t="t" l="l"/>
            <a:pathLst>
              <a:path h="11136984" w="20830971">
                <a:moveTo>
                  <a:pt x="0" y="0"/>
                </a:moveTo>
                <a:lnTo>
                  <a:pt x="20830970" y="0"/>
                </a:lnTo>
                <a:lnTo>
                  <a:pt x="20830970" y="11136984"/>
                </a:lnTo>
                <a:lnTo>
                  <a:pt x="0" y="1113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16376" y="1361601"/>
            <a:ext cx="14166376" cy="79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7"/>
              </a:lnSpc>
              <a:spcBef>
                <a:spcPct val="0"/>
              </a:spcBef>
            </a:pPr>
            <a:r>
              <a:rPr lang="en-US" b="true" sz="4648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Photometric Features (u, g, r, i, z)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5521" y="2407285"/>
            <a:ext cx="15285346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Mapping the Radiation Signature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Five Bands: These measure the intensity of light from ultraviolet (u) to infrared (z).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 "Color Fingerprint": Comparing these bands creates a unique signature for every object.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it Matters: It allows the model to easily distinguish between the glow of a normal Star (powered by nuclear fusion) and a Quasar (powered by a supermassive black hole).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427" y="-5309877"/>
            <a:ext cx="20906754" cy="20906754"/>
          </a:xfrm>
          <a:custGeom>
            <a:avLst/>
            <a:gdLst/>
            <a:ahLst/>
            <a:cxnLst/>
            <a:rect r="r" b="b" t="t" l="l"/>
            <a:pathLst>
              <a:path h="20906754" w="20906754">
                <a:moveTo>
                  <a:pt x="0" y="0"/>
                </a:moveTo>
                <a:lnTo>
                  <a:pt x="20906754" y="0"/>
                </a:lnTo>
                <a:lnTo>
                  <a:pt x="20906754" y="20906754"/>
                </a:lnTo>
                <a:lnTo>
                  <a:pt x="0" y="20906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7962" y="4383361"/>
            <a:ext cx="15493975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Quasars are billions of light-years away, yet look like nearby stars to standard telescopes. Redshift (z) is our only clue to their true distance.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Redshift measures how light is stretched as objects move away. In our model, this feature emerged as the absolute separator between galactic neighbors and cosmic titans.</a:t>
            </a: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972876" y="2087425"/>
            <a:ext cx="4469403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DE59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They move fast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95079" y="1190170"/>
            <a:ext cx="11488002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Most important Feature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7962" y="3112056"/>
            <a:ext cx="3534770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Redshift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427" y="-5309877"/>
            <a:ext cx="20906754" cy="20906754"/>
          </a:xfrm>
          <a:custGeom>
            <a:avLst/>
            <a:gdLst/>
            <a:ahLst/>
            <a:cxnLst/>
            <a:rect r="r" b="b" t="t" l="l"/>
            <a:pathLst>
              <a:path h="20906754" w="20906754">
                <a:moveTo>
                  <a:pt x="0" y="0"/>
                </a:moveTo>
                <a:lnTo>
                  <a:pt x="20906754" y="0"/>
                </a:lnTo>
                <a:lnTo>
                  <a:pt x="20906754" y="20906754"/>
                </a:lnTo>
                <a:lnTo>
                  <a:pt x="0" y="20906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7012" y="3388360"/>
            <a:ext cx="15493975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Hidden Missing Data: We identified and filtered out standard astronomical placeholder values (like -9999, -10000) that would have skewed the model's math.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Extreme Class Imbalance: Quasars made up less than 10% of the dataset, meaning standard models would naturally ignore them to artificially inflate their overall accuracy.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9506" y="2087425"/>
            <a:ext cx="5622593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FFDE59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Cleaning the Noise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78771" y="1190170"/>
            <a:ext cx="9720618" cy="9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Challenges in the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72" y="-400535"/>
            <a:ext cx="18096257" cy="11088070"/>
          </a:xfrm>
          <a:custGeom>
            <a:avLst/>
            <a:gdLst/>
            <a:ahLst/>
            <a:cxnLst/>
            <a:rect r="r" b="b" t="t" l="l"/>
            <a:pathLst>
              <a:path h="11088070" w="18096257">
                <a:moveTo>
                  <a:pt x="0" y="0"/>
                </a:moveTo>
                <a:lnTo>
                  <a:pt x="18096256" y="0"/>
                </a:lnTo>
                <a:lnTo>
                  <a:pt x="18096256" y="11088070"/>
                </a:lnTo>
                <a:lnTo>
                  <a:pt x="0" y="11088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6859" y="1376282"/>
            <a:ext cx="12013072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Overcoming the Imbalance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4036" y="3348966"/>
            <a:ext cx="12799444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Baseline Testing: We evaluated Logistic Regression and Random Forest classifiers.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Algorithmic Weighting: We applied class_weight='balanced' to heavily penalize the models for missing the rare Quasars.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1485" y="-424992"/>
            <a:ext cx="20830971" cy="11136984"/>
          </a:xfrm>
          <a:custGeom>
            <a:avLst/>
            <a:gdLst/>
            <a:ahLst/>
            <a:cxnLst/>
            <a:rect r="r" b="b" t="t" l="l"/>
            <a:pathLst>
              <a:path h="11136984" w="20830971">
                <a:moveTo>
                  <a:pt x="0" y="0"/>
                </a:moveTo>
                <a:lnTo>
                  <a:pt x="20830970" y="0"/>
                </a:lnTo>
                <a:lnTo>
                  <a:pt x="20830970" y="11136984"/>
                </a:lnTo>
                <a:lnTo>
                  <a:pt x="0" y="11136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27126" y="1504669"/>
            <a:ext cx="731520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Results &amp; Conclusion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FDE5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Final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8502" y="3410908"/>
            <a:ext cx="15030173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Accuracy: The Random Forest model achieved a 96% overall accuracy, predicting Galaxies and Stars almost perfectly.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Improving Recall: By actively managing the class imbalance, we forced the model to successfully identify the rare Quasars rather than just guessing "Galaxy" every time.</a:t>
            </a:r>
          </a:p>
          <a:p>
            <a:pPr algn="l">
              <a:lnSpc>
                <a:spcPts val="3920"/>
              </a:lnSpc>
            </a:pP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Conclusion: By feeding the algorithm just six specific physical features (5 light bands + redshift), we successfully built a pipeline that classifies deep space objects with high precision, without needing to process heavy, complex telescope images.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09377" y="-5309877"/>
            <a:ext cx="20906754" cy="20906754"/>
          </a:xfrm>
          <a:custGeom>
            <a:avLst/>
            <a:gdLst/>
            <a:ahLst/>
            <a:cxnLst/>
            <a:rect r="r" b="b" t="t" l="l"/>
            <a:pathLst>
              <a:path h="20906754" w="20906754">
                <a:moveTo>
                  <a:pt x="0" y="0"/>
                </a:moveTo>
                <a:lnTo>
                  <a:pt x="20906754" y="0"/>
                </a:lnTo>
                <a:lnTo>
                  <a:pt x="20906754" y="20906754"/>
                </a:lnTo>
                <a:lnTo>
                  <a:pt x="0" y="20906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99708">
            <a:off x="14102922" y="1261499"/>
            <a:ext cx="4579528" cy="2474615"/>
          </a:xfrm>
          <a:custGeom>
            <a:avLst/>
            <a:gdLst/>
            <a:ahLst/>
            <a:cxnLst/>
            <a:rect r="r" b="b" t="t" l="l"/>
            <a:pathLst>
              <a:path h="2474615" w="4579528">
                <a:moveTo>
                  <a:pt x="0" y="0"/>
                </a:moveTo>
                <a:lnTo>
                  <a:pt x="4579528" y="0"/>
                </a:lnTo>
                <a:lnTo>
                  <a:pt x="4579528" y="2474614"/>
                </a:lnTo>
                <a:lnTo>
                  <a:pt x="0" y="2474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53301" y="2592885"/>
            <a:ext cx="7181398" cy="5101230"/>
          </a:xfrm>
          <a:custGeom>
            <a:avLst/>
            <a:gdLst/>
            <a:ahLst/>
            <a:cxnLst/>
            <a:rect r="r" b="b" t="t" l="l"/>
            <a:pathLst>
              <a:path h="5101230" w="7181398">
                <a:moveTo>
                  <a:pt x="0" y="0"/>
                </a:moveTo>
                <a:lnTo>
                  <a:pt x="7181398" y="0"/>
                </a:lnTo>
                <a:lnTo>
                  <a:pt x="7181398" y="5101230"/>
                </a:lnTo>
                <a:lnTo>
                  <a:pt x="0" y="5101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9793" t="-72890" r="-97170" b="-4643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DAHIFH2-CME</dc:identifier>
  <dcterms:modified xsi:type="dcterms:W3CDTF">2011-08-01T06:04:30Z</dcterms:modified>
  <cp:revision>1</cp:revision>
  <dc:title>Hunting Quasars: Classification of Stars, Galaxies, and Quasars Using Classical Machine Learnin</dc:title>
</cp:coreProperties>
</file>